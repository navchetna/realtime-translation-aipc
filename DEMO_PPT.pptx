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80">
            <a:extLst>
              <a:ext uri="{FF2B5EF4-FFF2-40B4-BE49-F238E27FC236}">
                <a16:creationId xmlns:a16="http://schemas.microsoft.com/office/drawing/2014/main" id="{4FE059A1-9F99-86BC-8D6A-C4868F16B1BE}"/>
              </a:ext>
            </a:extLst>
          </p:cNvPr>
          <p:cNvSpPr txBox="1"/>
          <p:nvPr/>
        </p:nvSpPr>
        <p:spPr>
          <a:xfrm>
            <a:off x="2092981" y="2967335"/>
            <a:ext cx="8006038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Real-Time Indic Speech Translation — On-Device Architecture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A68FDC1-6518-A221-88FC-DC4808F919CE}"/>
              </a:ext>
            </a:extLst>
          </p:cNvPr>
          <p:cNvGrpSpPr/>
          <p:nvPr/>
        </p:nvGrpSpPr>
        <p:grpSpPr>
          <a:xfrm>
            <a:off x="10561320" y="228600"/>
            <a:ext cx="1170432" cy="438912"/>
            <a:chOff x="10561320" y="228600"/>
            <a:chExt cx="1170432" cy="438912"/>
          </a:xfrm>
        </p:grpSpPr>
        <p:sp>
          <p:nvSpPr>
            <p:cNvPr id="157" name="Rounded Rectangle 4">
              <a:extLst>
                <a:ext uri="{FF2B5EF4-FFF2-40B4-BE49-F238E27FC236}">
                  <a16:creationId xmlns:a16="http://schemas.microsoft.com/office/drawing/2014/main" id="{ED8550E2-A042-C862-622F-FBBF30E9E711}"/>
                </a:ext>
              </a:extLst>
            </p:cNvPr>
            <p:cNvSpPr/>
            <p:nvPr/>
          </p:nvSpPr>
          <p:spPr>
            <a:xfrm>
              <a:off x="10561320" y="228600"/>
              <a:ext cx="1170432" cy="438912"/>
            </a:xfrm>
            <a:prstGeom prst="roundRect">
              <a:avLst>
                <a:gd name="adj" fmla="val 12000"/>
              </a:avLst>
            </a:prstGeom>
            <a:solidFill>
              <a:schemeClr val="bg1"/>
            </a:solidFill>
            <a:ln>
              <a:solidFill>
                <a:srgbClr val="0071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58" name="Picture 157" descr="File:Intel-logo-2022.png - Wikimedia Commons">
              <a:extLst>
                <a:ext uri="{FF2B5EF4-FFF2-40B4-BE49-F238E27FC236}">
                  <a16:creationId xmlns:a16="http://schemas.microsoft.com/office/drawing/2014/main" id="{8A66C826-8A9A-E507-E056-BFF9536D6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05642" y="296534"/>
              <a:ext cx="726976" cy="2949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2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D614E-A18A-2B74-77F2-946E761D9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C378F08-58AD-F201-4BDB-14A7FD8EAAFD}"/>
              </a:ext>
            </a:extLst>
          </p:cNvPr>
          <p:cNvGrpSpPr/>
          <p:nvPr/>
        </p:nvGrpSpPr>
        <p:grpSpPr>
          <a:xfrm>
            <a:off x="10561320" y="228600"/>
            <a:ext cx="1170432" cy="438912"/>
            <a:chOff x="10561320" y="228600"/>
            <a:chExt cx="1170432" cy="438912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F2DB318-7A24-293D-E834-334C091A2588}"/>
                </a:ext>
              </a:extLst>
            </p:cNvPr>
            <p:cNvSpPr/>
            <p:nvPr/>
          </p:nvSpPr>
          <p:spPr>
            <a:xfrm>
              <a:off x="10561320" y="228600"/>
              <a:ext cx="1170432" cy="438912"/>
            </a:xfrm>
            <a:prstGeom prst="roundRect">
              <a:avLst>
                <a:gd name="adj" fmla="val 12000"/>
              </a:avLst>
            </a:prstGeom>
            <a:solidFill>
              <a:schemeClr val="bg1"/>
            </a:solidFill>
            <a:ln>
              <a:solidFill>
                <a:srgbClr val="0071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2" name="Picture 81" descr="File:Intel-logo-2022.png - Wikimedia Commons">
              <a:extLst>
                <a:ext uri="{FF2B5EF4-FFF2-40B4-BE49-F238E27FC236}">
                  <a16:creationId xmlns:a16="http://schemas.microsoft.com/office/drawing/2014/main" id="{30A936CC-95E4-979B-3087-9DB0976B3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05642" y="296534"/>
              <a:ext cx="726976" cy="29491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F9B8005-E151-90D8-28B7-FDD771F0E183}"/>
              </a:ext>
            </a:extLst>
          </p:cNvPr>
          <p:cNvSpPr txBox="1"/>
          <p:nvPr/>
        </p:nvSpPr>
        <p:spPr>
          <a:xfrm>
            <a:off x="365760" y="251460"/>
            <a:ext cx="987552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Real-Time Indic Speech Translation — On-Device Architecture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AA8D9B-F8AD-2455-7F23-44DFD7CFBFE6}"/>
              </a:ext>
            </a:extLst>
          </p:cNvPr>
          <p:cNvSpPr txBox="1"/>
          <p:nvPr/>
        </p:nvSpPr>
        <p:spPr>
          <a:xfrm>
            <a:off x="621792" y="1344168"/>
            <a:ext cx="18288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 dirty="0">
                <a:ln>
                  <a:noFill/>
                </a:ln>
                <a:solidFill>
                  <a:srgbClr val="00BEE6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DATA FLOW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C490BB-3B3B-FA00-20DA-2D72711A2D7D}"/>
              </a:ext>
            </a:extLst>
          </p:cNvPr>
          <p:cNvSpPr txBox="1"/>
          <p:nvPr/>
        </p:nvSpPr>
        <p:spPr>
          <a:xfrm>
            <a:off x="2084831" y="1078992"/>
            <a:ext cx="96012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00BEE6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LOCAL INFERENCE FABRIC</a:t>
            </a:r>
          </a:p>
        </p:txBody>
      </p:sp>
      <p:sp>
        <p:nvSpPr>
          <p:cNvPr id="83" name="Rounded Rectangle 8">
            <a:extLst>
              <a:ext uri="{FF2B5EF4-FFF2-40B4-BE49-F238E27FC236}">
                <a16:creationId xmlns:a16="http://schemas.microsoft.com/office/drawing/2014/main" id="{1810FDD6-86F0-00F8-9A71-183C16FDF705}"/>
              </a:ext>
            </a:extLst>
          </p:cNvPr>
          <p:cNvSpPr/>
          <p:nvPr/>
        </p:nvSpPr>
        <p:spPr>
          <a:xfrm>
            <a:off x="2057400" y="987552"/>
            <a:ext cx="9674352" cy="1024128"/>
          </a:xfrm>
          <a:prstGeom prst="roundRect">
            <a:avLst>
              <a:gd name="adj" fmla="val 12000"/>
            </a:avLst>
          </a:prstGeom>
          <a:solidFill>
            <a:srgbClr val="0D1F37"/>
          </a:solidFill>
          <a:ln>
            <a:solidFill>
              <a:srgbClr val="0D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Rounded Rectangle 9">
            <a:extLst>
              <a:ext uri="{FF2B5EF4-FFF2-40B4-BE49-F238E27FC236}">
                <a16:creationId xmlns:a16="http://schemas.microsoft.com/office/drawing/2014/main" id="{9C1C9745-BBF1-4B62-F61A-343436C50D82}"/>
              </a:ext>
            </a:extLst>
          </p:cNvPr>
          <p:cNvSpPr/>
          <p:nvPr/>
        </p:nvSpPr>
        <p:spPr>
          <a:xfrm>
            <a:off x="2286000" y="1161288"/>
            <a:ext cx="2743200" cy="658368"/>
          </a:xfrm>
          <a:prstGeom prst="roundRect">
            <a:avLst>
              <a:gd name="adj" fmla="val 12000"/>
            </a:avLst>
          </a:prstGeom>
          <a:solidFill>
            <a:srgbClr val="122844"/>
          </a:solidFill>
          <a:ln>
            <a:solidFill>
              <a:srgbClr val="3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E192DED-1573-3985-B967-9DDAB27358AC}"/>
              </a:ext>
            </a:extLst>
          </p:cNvPr>
          <p:cNvSpPr txBox="1"/>
          <p:nvPr/>
        </p:nvSpPr>
        <p:spPr>
          <a:xfrm>
            <a:off x="2395728" y="1188720"/>
            <a:ext cx="2523744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OpenVINO 2025.4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341E46C-DD6E-BD70-A7A6-349AAE67660D}"/>
              </a:ext>
            </a:extLst>
          </p:cNvPr>
          <p:cNvSpPr txBox="1"/>
          <p:nvPr/>
        </p:nvSpPr>
        <p:spPr>
          <a:xfrm>
            <a:off x="2395728" y="1472184"/>
            <a:ext cx="252374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Local inference runtime</a:t>
            </a:r>
          </a:p>
        </p:txBody>
      </p:sp>
      <p:sp>
        <p:nvSpPr>
          <p:cNvPr id="87" name="Rounded Rectangle 12">
            <a:extLst>
              <a:ext uri="{FF2B5EF4-FFF2-40B4-BE49-F238E27FC236}">
                <a16:creationId xmlns:a16="http://schemas.microsoft.com/office/drawing/2014/main" id="{4DB8981F-CDD8-DEEC-CD41-CB838E2066F0}"/>
              </a:ext>
            </a:extLst>
          </p:cNvPr>
          <p:cNvSpPr/>
          <p:nvPr/>
        </p:nvSpPr>
        <p:spPr>
          <a:xfrm>
            <a:off x="5193792" y="1161288"/>
            <a:ext cx="2743200" cy="658368"/>
          </a:xfrm>
          <a:prstGeom prst="roundRect">
            <a:avLst>
              <a:gd name="adj" fmla="val 12000"/>
            </a:avLst>
          </a:prstGeom>
          <a:solidFill>
            <a:srgbClr val="122844"/>
          </a:solidFill>
          <a:ln>
            <a:solidFill>
              <a:srgbClr val="3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A1F158C-FEB9-23FD-0539-4B6331CC9C4F}"/>
              </a:ext>
            </a:extLst>
          </p:cNvPr>
          <p:cNvSpPr txBox="1"/>
          <p:nvPr/>
        </p:nvSpPr>
        <p:spPr>
          <a:xfrm>
            <a:off x="5303520" y="1188720"/>
            <a:ext cx="2523744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FastAPI / Uvicorn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251C141-19F5-C308-BDB6-E7C655992CEC}"/>
              </a:ext>
            </a:extLst>
          </p:cNvPr>
          <p:cNvSpPr txBox="1"/>
          <p:nvPr/>
        </p:nvSpPr>
        <p:spPr>
          <a:xfrm>
            <a:off x="5303520" y="1472184"/>
            <a:ext cx="252374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Bhashini-compatible REST</a:t>
            </a:r>
          </a:p>
        </p:txBody>
      </p:sp>
      <p:sp>
        <p:nvSpPr>
          <p:cNvPr id="90" name="Rounded Rectangle 15">
            <a:extLst>
              <a:ext uri="{FF2B5EF4-FFF2-40B4-BE49-F238E27FC236}">
                <a16:creationId xmlns:a16="http://schemas.microsoft.com/office/drawing/2014/main" id="{CEBE8536-CEF9-17FF-F414-9F8AC94A45BC}"/>
              </a:ext>
            </a:extLst>
          </p:cNvPr>
          <p:cNvSpPr/>
          <p:nvPr/>
        </p:nvSpPr>
        <p:spPr>
          <a:xfrm>
            <a:off x="8101583" y="1161288"/>
            <a:ext cx="3310128" cy="658368"/>
          </a:xfrm>
          <a:prstGeom prst="roundRect">
            <a:avLst>
              <a:gd name="adj" fmla="val 12000"/>
            </a:avLst>
          </a:prstGeom>
          <a:solidFill>
            <a:srgbClr val="122844"/>
          </a:solidFill>
          <a:ln>
            <a:solidFill>
              <a:srgbClr val="3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43583C8-9EA4-FF0F-0527-82041BE2D376}"/>
              </a:ext>
            </a:extLst>
          </p:cNvPr>
          <p:cNvSpPr txBox="1"/>
          <p:nvPr/>
        </p:nvSpPr>
        <p:spPr>
          <a:xfrm>
            <a:off x="8211312" y="1188720"/>
            <a:ext cx="3090672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On-device model execution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74FFEF7-8F81-385E-8534-B4CBC1B7B364}"/>
              </a:ext>
            </a:extLst>
          </p:cNvPr>
          <p:cNvSpPr txBox="1"/>
          <p:nvPr/>
        </p:nvSpPr>
        <p:spPr>
          <a:xfrm>
            <a:off x="8211312" y="1472184"/>
            <a:ext cx="309067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CPU • Arc iGPU • AI Boost NPU</a:t>
            </a:r>
          </a:p>
        </p:txBody>
      </p:sp>
      <p:sp>
        <p:nvSpPr>
          <p:cNvPr id="93" name="Rounded Rectangle 18">
            <a:extLst>
              <a:ext uri="{FF2B5EF4-FFF2-40B4-BE49-F238E27FC236}">
                <a16:creationId xmlns:a16="http://schemas.microsoft.com/office/drawing/2014/main" id="{D5483B60-B1CC-6FF5-4D35-3D653108A9CC}"/>
              </a:ext>
            </a:extLst>
          </p:cNvPr>
          <p:cNvSpPr/>
          <p:nvPr/>
        </p:nvSpPr>
        <p:spPr>
          <a:xfrm>
            <a:off x="438912" y="2395728"/>
            <a:ext cx="1444752" cy="2359152"/>
          </a:xfrm>
          <a:prstGeom prst="roundRect">
            <a:avLst>
              <a:gd name="adj" fmla="val 12000"/>
            </a:avLst>
          </a:prstGeom>
          <a:solidFill>
            <a:srgbClr val="0D1F37"/>
          </a:solidFill>
          <a:ln>
            <a:solidFill>
              <a:srgbClr val="0D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A78ECC-D6E0-B2C5-433F-0439901DE86E}"/>
              </a:ext>
            </a:extLst>
          </p:cNvPr>
          <p:cNvSpPr txBox="1"/>
          <p:nvPr/>
        </p:nvSpPr>
        <p:spPr>
          <a:xfrm>
            <a:off x="557784" y="2514600"/>
            <a:ext cx="1207008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BROWSER / EDGE</a:t>
            </a:r>
          </a:p>
        </p:txBody>
      </p:sp>
      <p:sp>
        <p:nvSpPr>
          <p:cNvPr id="95" name="Rounded Rectangle 20">
            <a:extLst>
              <a:ext uri="{FF2B5EF4-FFF2-40B4-BE49-F238E27FC236}">
                <a16:creationId xmlns:a16="http://schemas.microsoft.com/office/drawing/2014/main" id="{D143F6A4-F9C4-05A6-989C-7F479BBE1E35}"/>
              </a:ext>
            </a:extLst>
          </p:cNvPr>
          <p:cNvSpPr/>
          <p:nvPr/>
        </p:nvSpPr>
        <p:spPr>
          <a:xfrm>
            <a:off x="612648" y="2834640"/>
            <a:ext cx="1097280" cy="502920"/>
          </a:xfrm>
          <a:prstGeom prst="roundRect">
            <a:avLst>
              <a:gd name="adj" fmla="val 12000"/>
            </a:avLst>
          </a:prstGeom>
          <a:solidFill>
            <a:srgbClr val="122844"/>
          </a:solidFill>
          <a:ln>
            <a:solidFill>
              <a:srgbClr val="3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86CC33-6137-FC04-F5C5-4C32B55A34F2}"/>
              </a:ext>
            </a:extLst>
          </p:cNvPr>
          <p:cNvSpPr txBox="1"/>
          <p:nvPr/>
        </p:nvSpPr>
        <p:spPr>
          <a:xfrm>
            <a:off x="612648" y="2834640"/>
            <a:ext cx="1097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MICROPHONE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EEEF4B-F056-617A-A86E-7B1ABA3DF3ED}"/>
              </a:ext>
            </a:extLst>
          </p:cNvPr>
          <p:cNvSpPr txBox="1"/>
          <p:nvPr/>
        </p:nvSpPr>
        <p:spPr>
          <a:xfrm>
            <a:off x="548640" y="3374136"/>
            <a:ext cx="12252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16 kHz Float32 PCM</a:t>
            </a:r>
          </a:p>
        </p:txBody>
      </p:sp>
      <p:sp>
        <p:nvSpPr>
          <p:cNvPr id="98" name="Rounded Rectangle 23">
            <a:extLst>
              <a:ext uri="{FF2B5EF4-FFF2-40B4-BE49-F238E27FC236}">
                <a16:creationId xmlns:a16="http://schemas.microsoft.com/office/drawing/2014/main" id="{74A20C0E-4CAE-395A-4E5E-A0A9D0DF01B0}"/>
              </a:ext>
            </a:extLst>
          </p:cNvPr>
          <p:cNvSpPr/>
          <p:nvPr/>
        </p:nvSpPr>
        <p:spPr>
          <a:xfrm>
            <a:off x="612648" y="3703320"/>
            <a:ext cx="1097280" cy="612648"/>
          </a:xfrm>
          <a:prstGeom prst="roundRect">
            <a:avLst>
              <a:gd name="adj" fmla="val 12000"/>
            </a:avLst>
          </a:prstGeom>
          <a:solidFill>
            <a:srgbClr val="122844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19B971E-8BF5-6B1D-3544-F6E63DA6FE63}"/>
              </a:ext>
            </a:extLst>
          </p:cNvPr>
          <p:cNvSpPr txBox="1"/>
          <p:nvPr/>
        </p:nvSpPr>
        <p:spPr>
          <a:xfrm>
            <a:off x="612648" y="3703320"/>
            <a:ext cx="1097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Silero VAD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5818E51-D1C3-B612-125B-B6BBA191E590}"/>
              </a:ext>
            </a:extLst>
          </p:cNvPr>
          <p:cNvSpPr txBox="1"/>
          <p:nvPr/>
        </p:nvSpPr>
        <p:spPr>
          <a:xfrm>
            <a:off x="621792" y="3950208"/>
            <a:ext cx="107899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ONNX Runtime Web
WASM / SIMD</a:t>
            </a:r>
          </a:p>
        </p:txBody>
      </p:sp>
      <p:sp>
        <p:nvSpPr>
          <p:cNvPr id="101" name="Rounded Rectangle 26">
            <a:extLst>
              <a:ext uri="{FF2B5EF4-FFF2-40B4-BE49-F238E27FC236}">
                <a16:creationId xmlns:a16="http://schemas.microsoft.com/office/drawing/2014/main" id="{D31AC184-4CEE-569E-D605-77C3F6F58F75}"/>
              </a:ext>
            </a:extLst>
          </p:cNvPr>
          <p:cNvSpPr/>
          <p:nvPr/>
        </p:nvSpPr>
        <p:spPr>
          <a:xfrm>
            <a:off x="2212848" y="2395728"/>
            <a:ext cx="1874519" cy="2359152"/>
          </a:xfrm>
          <a:prstGeom prst="roundRect">
            <a:avLst>
              <a:gd name="adj" fmla="val 12000"/>
            </a:avLst>
          </a:prstGeom>
          <a:solidFill>
            <a:srgbClr val="0D1F37"/>
          </a:solidFill>
          <a:ln>
            <a:solidFill>
              <a:srgbClr val="0D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ounded Rectangle 27">
            <a:extLst>
              <a:ext uri="{FF2B5EF4-FFF2-40B4-BE49-F238E27FC236}">
                <a16:creationId xmlns:a16="http://schemas.microsoft.com/office/drawing/2014/main" id="{F6E45F3C-3A5A-35FF-B78A-C74FD9823C68}"/>
              </a:ext>
            </a:extLst>
          </p:cNvPr>
          <p:cNvSpPr/>
          <p:nvPr/>
        </p:nvSpPr>
        <p:spPr>
          <a:xfrm>
            <a:off x="2359152" y="2542032"/>
            <a:ext cx="1581912" cy="384048"/>
          </a:xfrm>
          <a:prstGeom prst="roundRect">
            <a:avLst>
              <a:gd name="adj" fmla="val 12000"/>
            </a:avLst>
          </a:prstGeom>
          <a:solidFill>
            <a:srgbClr val="0071C5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EBB93EF-FF97-2C71-FD8F-D643FE268BD6}"/>
              </a:ext>
            </a:extLst>
          </p:cNvPr>
          <p:cNvSpPr txBox="1"/>
          <p:nvPr/>
        </p:nvSpPr>
        <p:spPr>
          <a:xfrm>
            <a:off x="2359152" y="2542032"/>
            <a:ext cx="1581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ASR / STT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E644E08-CCA5-8357-B64E-C79636657D82}"/>
              </a:ext>
            </a:extLst>
          </p:cNvPr>
          <p:cNvSpPr txBox="1"/>
          <p:nvPr/>
        </p:nvSpPr>
        <p:spPr>
          <a:xfrm>
            <a:off x="2377440" y="3044952"/>
            <a:ext cx="154533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Intel Core CPU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8149D22-C957-C100-B558-89FA1531E5C5}"/>
              </a:ext>
            </a:extLst>
          </p:cNvPr>
          <p:cNvSpPr txBox="1"/>
          <p:nvPr/>
        </p:nvSpPr>
        <p:spPr>
          <a:xfrm>
            <a:off x="2377440" y="3337560"/>
            <a:ext cx="154533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IndicConformer 600M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B67AA1B-1747-14AE-BE86-C7162E4470D3}"/>
              </a:ext>
            </a:extLst>
          </p:cNvPr>
          <p:cNvSpPr txBox="1"/>
          <p:nvPr/>
        </p:nvSpPr>
        <p:spPr>
          <a:xfrm>
            <a:off x="2377440" y="3749039"/>
            <a:ext cx="1545336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0BEE6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OpenVINO IR FP16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618F12D-EFA6-2A32-A18E-7A606721ECA6}"/>
              </a:ext>
            </a:extLst>
          </p:cNvPr>
          <p:cNvSpPr txBox="1"/>
          <p:nvPr/>
        </p:nvSpPr>
        <p:spPr>
          <a:xfrm>
            <a:off x="2377440" y="4114800"/>
            <a:ext cx="1545336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9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22 Indic languages</a:t>
            </a:r>
          </a:p>
        </p:txBody>
      </p:sp>
      <p:sp>
        <p:nvSpPr>
          <p:cNvPr id="108" name="Rounded Rectangle 33">
            <a:extLst>
              <a:ext uri="{FF2B5EF4-FFF2-40B4-BE49-F238E27FC236}">
                <a16:creationId xmlns:a16="http://schemas.microsoft.com/office/drawing/2014/main" id="{ED9BCC5B-1F9E-483D-A0ED-78862912D5D5}"/>
              </a:ext>
            </a:extLst>
          </p:cNvPr>
          <p:cNvSpPr/>
          <p:nvPr/>
        </p:nvSpPr>
        <p:spPr>
          <a:xfrm>
            <a:off x="4462272" y="2395728"/>
            <a:ext cx="1874519" cy="2359152"/>
          </a:xfrm>
          <a:prstGeom prst="roundRect">
            <a:avLst>
              <a:gd name="adj" fmla="val 12000"/>
            </a:avLst>
          </a:prstGeom>
          <a:solidFill>
            <a:srgbClr val="0D1F37"/>
          </a:solidFill>
          <a:ln>
            <a:solidFill>
              <a:srgbClr val="0D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Rounded Rectangle 34">
            <a:extLst>
              <a:ext uri="{FF2B5EF4-FFF2-40B4-BE49-F238E27FC236}">
                <a16:creationId xmlns:a16="http://schemas.microsoft.com/office/drawing/2014/main" id="{004973C7-53AC-9D33-1478-83605E3CE7E9}"/>
              </a:ext>
            </a:extLst>
          </p:cNvPr>
          <p:cNvSpPr/>
          <p:nvPr/>
        </p:nvSpPr>
        <p:spPr>
          <a:xfrm>
            <a:off x="4608576" y="2542032"/>
            <a:ext cx="1581912" cy="384048"/>
          </a:xfrm>
          <a:prstGeom prst="roundRect">
            <a:avLst>
              <a:gd name="adj" fmla="val 12000"/>
            </a:avLst>
          </a:prstGeom>
          <a:solidFill>
            <a:srgbClr val="7D5BD2"/>
          </a:solidFill>
          <a:ln>
            <a:solidFill>
              <a:srgbClr val="7D5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97DE170-17B4-3607-4B25-85B303E8EA71}"/>
              </a:ext>
            </a:extLst>
          </p:cNvPr>
          <p:cNvSpPr txBox="1"/>
          <p:nvPr/>
        </p:nvSpPr>
        <p:spPr>
          <a:xfrm>
            <a:off x="4608576" y="2542032"/>
            <a:ext cx="1581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NMT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B9EF672-2C85-C9BF-3A10-0E4776FB7ABE}"/>
              </a:ext>
            </a:extLst>
          </p:cNvPr>
          <p:cNvSpPr txBox="1"/>
          <p:nvPr/>
        </p:nvSpPr>
        <p:spPr>
          <a:xfrm>
            <a:off x="4626864" y="3044952"/>
            <a:ext cx="154533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Intel Arc iGPU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DF6F70B-4FA5-E7F6-5FEB-BF07DA587E50}"/>
              </a:ext>
            </a:extLst>
          </p:cNvPr>
          <p:cNvSpPr txBox="1"/>
          <p:nvPr/>
        </p:nvSpPr>
        <p:spPr>
          <a:xfrm>
            <a:off x="4626864" y="3337560"/>
            <a:ext cx="154533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IndicTrans2 1B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6E6E268-F929-2C98-5F40-DB2035E7FB3D}"/>
              </a:ext>
            </a:extLst>
          </p:cNvPr>
          <p:cNvSpPr txBox="1"/>
          <p:nvPr/>
        </p:nvSpPr>
        <p:spPr>
          <a:xfrm>
            <a:off x="4626864" y="3749039"/>
            <a:ext cx="1545336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0BEE6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OpenVINO IR FP16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740E40F-85B9-1B06-A425-451240D81047}"/>
              </a:ext>
            </a:extLst>
          </p:cNvPr>
          <p:cNvSpPr txBox="1"/>
          <p:nvPr/>
        </p:nvSpPr>
        <p:spPr>
          <a:xfrm>
            <a:off x="4626864" y="4114800"/>
            <a:ext cx="1545336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9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EN + 24 Indic</a:t>
            </a:r>
          </a:p>
        </p:txBody>
      </p:sp>
      <p:sp>
        <p:nvSpPr>
          <p:cNvPr id="115" name="Rounded Rectangle 40">
            <a:extLst>
              <a:ext uri="{FF2B5EF4-FFF2-40B4-BE49-F238E27FC236}">
                <a16:creationId xmlns:a16="http://schemas.microsoft.com/office/drawing/2014/main" id="{297E662F-64E7-E72F-8EAA-D17BD9C4E1A3}"/>
              </a:ext>
            </a:extLst>
          </p:cNvPr>
          <p:cNvSpPr/>
          <p:nvPr/>
        </p:nvSpPr>
        <p:spPr>
          <a:xfrm>
            <a:off x="6711696" y="2395728"/>
            <a:ext cx="1874519" cy="2359152"/>
          </a:xfrm>
          <a:prstGeom prst="roundRect">
            <a:avLst>
              <a:gd name="adj" fmla="val 12000"/>
            </a:avLst>
          </a:prstGeom>
          <a:solidFill>
            <a:srgbClr val="0D1F37"/>
          </a:solidFill>
          <a:ln>
            <a:solidFill>
              <a:srgbClr val="0D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Rounded Rectangle 41">
            <a:extLst>
              <a:ext uri="{FF2B5EF4-FFF2-40B4-BE49-F238E27FC236}">
                <a16:creationId xmlns:a16="http://schemas.microsoft.com/office/drawing/2014/main" id="{643C1E57-2676-9C7D-A3CD-54962897049C}"/>
              </a:ext>
            </a:extLst>
          </p:cNvPr>
          <p:cNvSpPr/>
          <p:nvPr/>
        </p:nvSpPr>
        <p:spPr>
          <a:xfrm>
            <a:off x="6858000" y="2542032"/>
            <a:ext cx="1581912" cy="384048"/>
          </a:xfrm>
          <a:prstGeom prst="roundRect">
            <a:avLst>
              <a:gd name="adj" fmla="val 12000"/>
            </a:avLst>
          </a:prstGeom>
          <a:solidFill>
            <a:srgbClr val="4AB478"/>
          </a:solidFill>
          <a:ln>
            <a:solidFill>
              <a:srgbClr val="4A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31702E5-E4FC-8354-4B51-17826AFD3A4E}"/>
              </a:ext>
            </a:extLst>
          </p:cNvPr>
          <p:cNvSpPr txBox="1"/>
          <p:nvPr/>
        </p:nvSpPr>
        <p:spPr>
          <a:xfrm>
            <a:off x="6858000" y="2542032"/>
            <a:ext cx="1581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TTS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E6FC4BA-26CE-A89B-A551-312B18F16AD9}"/>
              </a:ext>
            </a:extLst>
          </p:cNvPr>
          <p:cNvSpPr txBox="1"/>
          <p:nvPr/>
        </p:nvSpPr>
        <p:spPr>
          <a:xfrm>
            <a:off x="6876288" y="3044952"/>
            <a:ext cx="154533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Intel AI Boost NPU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98C8A13-ED00-1B4A-5096-476D17451AAC}"/>
              </a:ext>
            </a:extLst>
          </p:cNvPr>
          <p:cNvSpPr txBox="1"/>
          <p:nvPr/>
        </p:nvSpPr>
        <p:spPr>
          <a:xfrm>
            <a:off x="6876288" y="3337560"/>
            <a:ext cx="1545336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FastSpeech2-HS + HiFi-GAN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5C39C70-C5C8-D523-ADEE-BB7630A6DC5F}"/>
              </a:ext>
            </a:extLst>
          </p:cNvPr>
          <p:cNvSpPr txBox="1"/>
          <p:nvPr/>
        </p:nvSpPr>
        <p:spPr>
          <a:xfrm>
            <a:off x="6876288" y="3749039"/>
            <a:ext cx="1545336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0BEE6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OpenVINO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5C2AAA0-C96B-4B4E-342F-800B3E76D03E}"/>
              </a:ext>
            </a:extLst>
          </p:cNvPr>
          <p:cNvSpPr txBox="1"/>
          <p:nvPr/>
        </p:nvSpPr>
        <p:spPr>
          <a:xfrm>
            <a:off x="6876288" y="4114800"/>
            <a:ext cx="1545336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9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7 languages × M/F</a:t>
            </a:r>
          </a:p>
        </p:txBody>
      </p:sp>
      <p:sp>
        <p:nvSpPr>
          <p:cNvPr id="122" name="Rounded Rectangle 47">
            <a:extLst>
              <a:ext uri="{FF2B5EF4-FFF2-40B4-BE49-F238E27FC236}">
                <a16:creationId xmlns:a16="http://schemas.microsoft.com/office/drawing/2014/main" id="{A1F2DBA3-E6A8-4A56-171A-57CDEBC51CB3}"/>
              </a:ext>
            </a:extLst>
          </p:cNvPr>
          <p:cNvSpPr/>
          <p:nvPr/>
        </p:nvSpPr>
        <p:spPr>
          <a:xfrm>
            <a:off x="8961120" y="2395728"/>
            <a:ext cx="2770632" cy="2359152"/>
          </a:xfrm>
          <a:prstGeom prst="roundRect">
            <a:avLst>
              <a:gd name="adj" fmla="val 12000"/>
            </a:avLst>
          </a:prstGeom>
          <a:solidFill>
            <a:srgbClr val="0D1F37"/>
          </a:solidFill>
          <a:ln>
            <a:solidFill>
              <a:srgbClr val="0D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ounded Rectangle 48">
            <a:extLst>
              <a:ext uri="{FF2B5EF4-FFF2-40B4-BE49-F238E27FC236}">
                <a16:creationId xmlns:a16="http://schemas.microsoft.com/office/drawing/2014/main" id="{E0677D81-32E4-0B32-CEE8-44409FE0264E}"/>
              </a:ext>
            </a:extLst>
          </p:cNvPr>
          <p:cNvSpPr/>
          <p:nvPr/>
        </p:nvSpPr>
        <p:spPr>
          <a:xfrm>
            <a:off x="9125712" y="2560320"/>
            <a:ext cx="2441448" cy="438912"/>
          </a:xfrm>
          <a:prstGeom prst="roundRect">
            <a:avLst>
              <a:gd name="adj" fmla="val 12000"/>
            </a:avLst>
          </a:prstGeom>
          <a:solidFill>
            <a:srgbClr val="122844"/>
          </a:solidFill>
          <a:ln>
            <a:solidFill>
              <a:srgbClr val="3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F9C10BD-7E6D-7ECD-4657-A50FA0233359}"/>
              </a:ext>
            </a:extLst>
          </p:cNvPr>
          <p:cNvSpPr txBox="1"/>
          <p:nvPr/>
        </p:nvSpPr>
        <p:spPr>
          <a:xfrm>
            <a:off x="9125712" y="2560320"/>
            <a:ext cx="2441448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7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LIVE RESULTS / UI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133381D-41F6-6A0E-E4B0-1FB226D02526}"/>
              </a:ext>
            </a:extLst>
          </p:cNvPr>
          <p:cNvSpPr txBox="1"/>
          <p:nvPr/>
        </p:nvSpPr>
        <p:spPr>
          <a:xfrm>
            <a:off x="9189720" y="3182112"/>
            <a:ext cx="23134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Translation text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DA70A10-4544-1CF0-6464-262CEB89ED8D}"/>
              </a:ext>
            </a:extLst>
          </p:cNvPr>
          <p:cNvSpPr txBox="1"/>
          <p:nvPr/>
        </p:nvSpPr>
        <p:spPr>
          <a:xfrm>
            <a:off x="9189720" y="3502152"/>
            <a:ext cx="23134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Synthesized speech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9EFA92D-1470-4A01-135A-D8B82374501D}"/>
              </a:ext>
            </a:extLst>
          </p:cNvPr>
          <p:cNvSpPr txBox="1"/>
          <p:nvPr/>
        </p:nvSpPr>
        <p:spPr>
          <a:xfrm>
            <a:off x="9189720" y="3822191"/>
            <a:ext cx="2313432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9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Latency • RTF • tok/s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087784D-C6DF-A2F8-CB83-4819AF67FC7B}"/>
              </a:ext>
            </a:extLst>
          </p:cNvPr>
          <p:cNvSpPr txBox="1"/>
          <p:nvPr/>
        </p:nvSpPr>
        <p:spPr>
          <a:xfrm>
            <a:off x="9189720" y="4160520"/>
            <a:ext cx="231343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9" b="1" i="0" u="none" strike="noStrike" kern="1200" cap="none" spc="0" normalizeH="0" baseline="0" noProof="0">
                <a:ln>
                  <a:noFill/>
                </a:ln>
                <a:solidFill>
                  <a:srgbClr val="00BEE6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local telemetry</a:t>
            </a:r>
          </a:p>
        </p:txBody>
      </p:sp>
      <p:cxnSp>
        <p:nvCxnSpPr>
          <p:cNvPr id="129" name="Connector 54">
            <a:extLst>
              <a:ext uri="{FF2B5EF4-FFF2-40B4-BE49-F238E27FC236}">
                <a16:creationId xmlns:a16="http://schemas.microsoft.com/office/drawing/2014/main" id="{25B1FB09-CAEB-C9C7-4AD5-47BAFF6FA3CD}"/>
              </a:ext>
            </a:extLst>
          </p:cNvPr>
          <p:cNvCxnSpPr/>
          <p:nvPr/>
        </p:nvCxnSpPr>
        <p:spPr>
          <a:xfrm>
            <a:off x="1161288" y="3584448"/>
            <a:ext cx="0" cy="118872"/>
          </a:xfrm>
          <a:prstGeom prst="line">
            <a:avLst/>
          </a:prstGeom>
          <a:ln w="30480">
            <a:solidFill>
              <a:srgbClr val="00B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55">
            <a:extLst>
              <a:ext uri="{FF2B5EF4-FFF2-40B4-BE49-F238E27FC236}">
                <a16:creationId xmlns:a16="http://schemas.microsoft.com/office/drawing/2014/main" id="{9BF03C59-BBF2-A74A-73AA-260566E7C09C}"/>
              </a:ext>
            </a:extLst>
          </p:cNvPr>
          <p:cNvCxnSpPr/>
          <p:nvPr/>
        </p:nvCxnSpPr>
        <p:spPr>
          <a:xfrm>
            <a:off x="1709928" y="4005072"/>
            <a:ext cx="502920" cy="0"/>
          </a:xfrm>
          <a:prstGeom prst="line">
            <a:avLst/>
          </a:prstGeom>
          <a:ln w="31750">
            <a:solidFill>
              <a:srgbClr val="007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8CDD1191-F7CF-0B27-8070-C73238F3FC5D}"/>
              </a:ext>
            </a:extLst>
          </p:cNvPr>
          <p:cNvSpPr txBox="1"/>
          <p:nvPr/>
        </p:nvSpPr>
        <p:spPr>
          <a:xfrm>
            <a:off x="1746504" y="3767328"/>
            <a:ext cx="38404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00BEE6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PCM</a:t>
            </a:r>
          </a:p>
        </p:txBody>
      </p:sp>
      <p:cxnSp>
        <p:nvCxnSpPr>
          <p:cNvPr id="132" name="Connector 57">
            <a:extLst>
              <a:ext uri="{FF2B5EF4-FFF2-40B4-BE49-F238E27FC236}">
                <a16:creationId xmlns:a16="http://schemas.microsoft.com/office/drawing/2014/main" id="{30555694-D71D-246A-84ED-5B99671BA641}"/>
              </a:ext>
            </a:extLst>
          </p:cNvPr>
          <p:cNvCxnSpPr/>
          <p:nvPr/>
        </p:nvCxnSpPr>
        <p:spPr>
          <a:xfrm>
            <a:off x="4087368" y="3675887"/>
            <a:ext cx="374904" cy="0"/>
          </a:xfrm>
          <a:prstGeom prst="line">
            <a:avLst/>
          </a:prstGeom>
          <a:ln w="31750">
            <a:solidFill>
              <a:srgbClr val="007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4BBFEB58-6C73-1B18-51F8-392DF6F18727}"/>
              </a:ext>
            </a:extLst>
          </p:cNvPr>
          <p:cNvSpPr txBox="1"/>
          <p:nvPr/>
        </p:nvSpPr>
        <p:spPr>
          <a:xfrm>
            <a:off x="4105656" y="3383280"/>
            <a:ext cx="34747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00BEE6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text</a:t>
            </a:r>
          </a:p>
        </p:txBody>
      </p:sp>
      <p:cxnSp>
        <p:nvCxnSpPr>
          <p:cNvPr id="134" name="Connector 59">
            <a:extLst>
              <a:ext uri="{FF2B5EF4-FFF2-40B4-BE49-F238E27FC236}">
                <a16:creationId xmlns:a16="http://schemas.microsoft.com/office/drawing/2014/main" id="{04691E91-BE95-E2E8-5510-A818A01C4443}"/>
              </a:ext>
            </a:extLst>
          </p:cNvPr>
          <p:cNvCxnSpPr/>
          <p:nvPr/>
        </p:nvCxnSpPr>
        <p:spPr>
          <a:xfrm>
            <a:off x="6336792" y="3675887"/>
            <a:ext cx="374904" cy="0"/>
          </a:xfrm>
          <a:prstGeom prst="line">
            <a:avLst/>
          </a:prstGeom>
          <a:ln w="31750">
            <a:solidFill>
              <a:srgbClr val="7D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86E03C5A-4A6F-532C-2F0E-767E2F3626C7}"/>
              </a:ext>
            </a:extLst>
          </p:cNvPr>
          <p:cNvSpPr txBox="1"/>
          <p:nvPr/>
        </p:nvSpPr>
        <p:spPr>
          <a:xfrm>
            <a:off x="6345936" y="3383280"/>
            <a:ext cx="38404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7D5BD2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N ×</a:t>
            </a:r>
          </a:p>
        </p:txBody>
      </p:sp>
      <p:cxnSp>
        <p:nvCxnSpPr>
          <p:cNvPr id="136" name="Connector 61">
            <a:extLst>
              <a:ext uri="{FF2B5EF4-FFF2-40B4-BE49-F238E27FC236}">
                <a16:creationId xmlns:a16="http://schemas.microsoft.com/office/drawing/2014/main" id="{32B22065-873C-ACF9-592F-C684849E3D0E}"/>
              </a:ext>
            </a:extLst>
          </p:cNvPr>
          <p:cNvCxnSpPr/>
          <p:nvPr/>
        </p:nvCxnSpPr>
        <p:spPr>
          <a:xfrm>
            <a:off x="8586216" y="3675887"/>
            <a:ext cx="374904" cy="0"/>
          </a:xfrm>
          <a:prstGeom prst="line">
            <a:avLst/>
          </a:prstGeom>
          <a:ln w="31750">
            <a:solidFill>
              <a:srgbClr val="4AB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BBA4C5A6-1F48-A41A-F748-580EE3356C91}"/>
              </a:ext>
            </a:extLst>
          </p:cNvPr>
          <p:cNvSpPr txBox="1"/>
          <p:nvPr/>
        </p:nvSpPr>
        <p:spPr>
          <a:xfrm>
            <a:off x="8595360" y="3383280"/>
            <a:ext cx="39319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4AB478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audio</a:t>
            </a:r>
          </a:p>
        </p:txBody>
      </p:sp>
      <p:cxnSp>
        <p:nvCxnSpPr>
          <p:cNvPr id="138" name="Connector 63">
            <a:extLst>
              <a:ext uri="{FF2B5EF4-FFF2-40B4-BE49-F238E27FC236}">
                <a16:creationId xmlns:a16="http://schemas.microsoft.com/office/drawing/2014/main" id="{4D2C67E9-9CE1-7383-31B1-8B79E5BD5D4D}"/>
              </a:ext>
            </a:extLst>
          </p:cNvPr>
          <p:cNvCxnSpPr/>
          <p:nvPr/>
        </p:nvCxnSpPr>
        <p:spPr>
          <a:xfrm>
            <a:off x="3145536" y="2011680"/>
            <a:ext cx="0" cy="384048"/>
          </a:xfrm>
          <a:prstGeom prst="line">
            <a:avLst/>
          </a:prstGeom>
          <a:ln w="16510">
            <a:solidFill>
              <a:srgbClr val="00BE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64">
            <a:extLst>
              <a:ext uri="{FF2B5EF4-FFF2-40B4-BE49-F238E27FC236}">
                <a16:creationId xmlns:a16="http://schemas.microsoft.com/office/drawing/2014/main" id="{354190E8-CBB6-530D-E855-4A12D04D718E}"/>
              </a:ext>
            </a:extLst>
          </p:cNvPr>
          <p:cNvCxnSpPr/>
          <p:nvPr/>
        </p:nvCxnSpPr>
        <p:spPr>
          <a:xfrm>
            <a:off x="5394960" y="2011680"/>
            <a:ext cx="0" cy="384048"/>
          </a:xfrm>
          <a:prstGeom prst="line">
            <a:avLst/>
          </a:prstGeom>
          <a:ln w="16510">
            <a:solidFill>
              <a:srgbClr val="00BE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65">
            <a:extLst>
              <a:ext uri="{FF2B5EF4-FFF2-40B4-BE49-F238E27FC236}">
                <a16:creationId xmlns:a16="http://schemas.microsoft.com/office/drawing/2014/main" id="{34B347D3-021A-7BA6-37C3-D2FB9352DF85}"/>
              </a:ext>
            </a:extLst>
          </p:cNvPr>
          <p:cNvCxnSpPr/>
          <p:nvPr/>
        </p:nvCxnSpPr>
        <p:spPr>
          <a:xfrm>
            <a:off x="7653527" y="2011680"/>
            <a:ext cx="0" cy="384048"/>
          </a:xfrm>
          <a:prstGeom prst="line">
            <a:avLst/>
          </a:prstGeom>
          <a:ln w="16510">
            <a:solidFill>
              <a:srgbClr val="00BE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66">
            <a:extLst>
              <a:ext uri="{FF2B5EF4-FFF2-40B4-BE49-F238E27FC236}">
                <a16:creationId xmlns:a16="http://schemas.microsoft.com/office/drawing/2014/main" id="{03051FA2-9253-704F-9B68-0E265E32D725}"/>
              </a:ext>
            </a:extLst>
          </p:cNvPr>
          <p:cNvSpPr/>
          <p:nvPr/>
        </p:nvSpPr>
        <p:spPr>
          <a:xfrm>
            <a:off x="2212848" y="4965192"/>
            <a:ext cx="6400800" cy="502920"/>
          </a:xfrm>
          <a:prstGeom prst="roundRect">
            <a:avLst>
              <a:gd name="adj" fmla="val 12000"/>
            </a:avLst>
          </a:prstGeom>
          <a:solidFill>
            <a:srgbClr val="122844"/>
          </a:solidFill>
          <a:ln>
            <a:solidFill>
              <a:srgbClr val="3A5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EA5B30E-EDB9-4013-C91B-0932FC544C41}"/>
              </a:ext>
            </a:extLst>
          </p:cNvPr>
          <p:cNvSpPr txBox="1"/>
          <p:nvPr/>
        </p:nvSpPr>
        <p:spPr>
          <a:xfrm>
            <a:off x="2350008" y="4965192"/>
            <a:ext cx="1325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00BEE6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PIPELINED EXECUTION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056FA2C-10DC-C4F2-4186-CE173A9A7600}"/>
              </a:ext>
            </a:extLst>
          </p:cNvPr>
          <p:cNvSpPr txBox="1"/>
          <p:nvPr/>
        </p:nvSpPr>
        <p:spPr>
          <a:xfrm>
            <a:off x="3685032" y="4965192"/>
            <a:ext cx="4773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ASR (n+1)  ∥  NMT (n)  ∥  TTS (n−1)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C70A70F-98E6-D7B3-A0F3-697969CACBE5}"/>
              </a:ext>
            </a:extLst>
          </p:cNvPr>
          <p:cNvSpPr txBox="1"/>
          <p:nvPr/>
        </p:nvSpPr>
        <p:spPr>
          <a:xfrm>
            <a:off x="475488" y="4965192"/>
            <a:ext cx="1353312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Voice activity gate
reduces inference load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0482532-6EBC-5434-3D27-14D732D416F1}"/>
              </a:ext>
            </a:extLst>
          </p:cNvPr>
          <p:cNvSpPr txBox="1"/>
          <p:nvPr/>
        </p:nvSpPr>
        <p:spPr>
          <a:xfrm>
            <a:off x="8997696" y="4965192"/>
            <a:ext cx="248716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NMT + TTS outputs return to
live UI on-device</a:t>
            </a:r>
          </a:p>
        </p:txBody>
      </p:sp>
      <p:sp>
        <p:nvSpPr>
          <p:cNvPr id="146" name="Rounded Rectangle 71">
            <a:extLst>
              <a:ext uri="{FF2B5EF4-FFF2-40B4-BE49-F238E27FC236}">
                <a16:creationId xmlns:a16="http://schemas.microsoft.com/office/drawing/2014/main" id="{0C0EF8FD-33B8-9FA5-8A27-42694839193E}"/>
              </a:ext>
            </a:extLst>
          </p:cNvPr>
          <p:cNvSpPr/>
          <p:nvPr/>
        </p:nvSpPr>
        <p:spPr>
          <a:xfrm>
            <a:off x="2212848" y="5641848"/>
            <a:ext cx="9518904" cy="429768"/>
          </a:xfrm>
          <a:prstGeom prst="roundRect">
            <a:avLst>
              <a:gd name="adj" fmla="val 12000"/>
            </a:avLst>
          </a:prstGeom>
          <a:solidFill>
            <a:srgbClr val="0D1F37"/>
          </a:solidFill>
          <a:ln>
            <a:solidFill>
              <a:srgbClr val="0D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A51761D-8A6B-64A2-FF0E-72918E7C0EA3}"/>
              </a:ext>
            </a:extLst>
          </p:cNvPr>
          <p:cNvSpPr txBox="1"/>
          <p:nvPr/>
        </p:nvSpPr>
        <p:spPr>
          <a:xfrm>
            <a:off x="2359152" y="5641848"/>
            <a:ext cx="105156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0" b="1" i="0" u="none" strike="noStrike" kern="1200" cap="none" spc="0" normalizeH="0" baseline="0" noProof="0">
                <a:ln>
                  <a:noFill/>
                </a:ln>
                <a:solidFill>
                  <a:srgbClr val="00BEE6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TELEMETRY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C9D704A-35EF-F555-7B7F-E20BEA185163}"/>
              </a:ext>
            </a:extLst>
          </p:cNvPr>
          <p:cNvSpPr txBox="1"/>
          <p:nvPr/>
        </p:nvSpPr>
        <p:spPr>
          <a:xfrm>
            <a:off x="3401568" y="5641848"/>
            <a:ext cx="8156448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AABBCD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latency_ms • audio_duration_s • RTF • tokens_per_sec • device utilization</a:t>
            </a:r>
          </a:p>
        </p:txBody>
      </p:sp>
      <p:cxnSp>
        <p:nvCxnSpPr>
          <p:cNvPr id="149" name="Connector 74">
            <a:extLst>
              <a:ext uri="{FF2B5EF4-FFF2-40B4-BE49-F238E27FC236}">
                <a16:creationId xmlns:a16="http://schemas.microsoft.com/office/drawing/2014/main" id="{F80A3D24-B5E5-2563-367A-A8318CA47A7A}"/>
              </a:ext>
            </a:extLst>
          </p:cNvPr>
          <p:cNvCxnSpPr/>
          <p:nvPr/>
        </p:nvCxnSpPr>
        <p:spPr>
          <a:xfrm>
            <a:off x="3145536" y="4754880"/>
            <a:ext cx="0" cy="886968"/>
          </a:xfrm>
          <a:prstGeom prst="line">
            <a:avLst/>
          </a:prstGeom>
          <a:ln w="14604">
            <a:solidFill>
              <a:srgbClr val="3A52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75">
            <a:extLst>
              <a:ext uri="{FF2B5EF4-FFF2-40B4-BE49-F238E27FC236}">
                <a16:creationId xmlns:a16="http://schemas.microsoft.com/office/drawing/2014/main" id="{3C015B6A-802F-5793-56AF-BF68DFB9181B}"/>
              </a:ext>
            </a:extLst>
          </p:cNvPr>
          <p:cNvCxnSpPr/>
          <p:nvPr/>
        </p:nvCxnSpPr>
        <p:spPr>
          <a:xfrm>
            <a:off x="5404104" y="4754880"/>
            <a:ext cx="0" cy="886968"/>
          </a:xfrm>
          <a:prstGeom prst="line">
            <a:avLst/>
          </a:prstGeom>
          <a:ln w="14604">
            <a:solidFill>
              <a:srgbClr val="3A52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76">
            <a:extLst>
              <a:ext uri="{FF2B5EF4-FFF2-40B4-BE49-F238E27FC236}">
                <a16:creationId xmlns:a16="http://schemas.microsoft.com/office/drawing/2014/main" id="{6A2E7BE2-595D-4FA2-2B2C-D515BF881B2E}"/>
              </a:ext>
            </a:extLst>
          </p:cNvPr>
          <p:cNvCxnSpPr/>
          <p:nvPr/>
        </p:nvCxnSpPr>
        <p:spPr>
          <a:xfrm>
            <a:off x="7653527" y="4754880"/>
            <a:ext cx="0" cy="886968"/>
          </a:xfrm>
          <a:prstGeom prst="line">
            <a:avLst/>
          </a:prstGeom>
          <a:ln w="14604">
            <a:solidFill>
              <a:srgbClr val="3A52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781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179</Words>
  <Application>Microsoft Office PowerPoint</Application>
  <PresentationFormat>Widescreen</PresentationFormat>
  <Paragraphs>45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Intel Clear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 Pro 5  14</cp:lastModifiedBy>
  <cp:revision>2</cp:revision>
  <dcterms:created xsi:type="dcterms:W3CDTF">2013-01-27T09:14:16Z</dcterms:created>
  <dcterms:modified xsi:type="dcterms:W3CDTF">2026-09-01T19:11:52Z</dcterms:modified>
  <cp:category/>
</cp:coreProperties>
</file>